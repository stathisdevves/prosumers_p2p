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0" r:id="rId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739"/>
    <p:restoredTop sz="81455"/>
  </p:normalViewPr>
  <p:slideViewPr>
    <p:cSldViewPr snapToGrid="0" snapToObjects="1">
      <p:cViewPr varScale="1">
        <p:scale>
          <a:sx n="70" d="100"/>
          <a:sy n="7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43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7D87"/>
          </a:solidFill>
          <a:ln w="12700">
            <a:solidFill>
              <a:srgbClr val="147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49224"/>
            <a:ext cx="137160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43F61"/>
                </a:solidFill>
                <a:latin typeface="Arial"/>
              </a:defRPr>
            </a:pPr>
            <a:r>
              <a:t>Computational architecture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07208" y="2487168"/>
            <a:ext cx="283464" cy="0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090672" y="2148840"/>
            <a:ext cx="0" cy="338328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90672" y="2148840"/>
            <a:ext cx="384048" cy="0"/>
          </a:xfrm>
          <a:prstGeom prst="line">
            <a:avLst/>
          </a:prstGeom>
          <a:ln w="20320">
            <a:solidFill>
              <a:srgbClr val="2A70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07208" y="2487168"/>
            <a:ext cx="283464" cy="0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90672" y="2487168"/>
            <a:ext cx="0" cy="896112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90672" y="3383280"/>
            <a:ext cx="384048" cy="0"/>
          </a:xfrm>
          <a:prstGeom prst="line">
            <a:avLst/>
          </a:prstGeom>
          <a:ln w="20320">
            <a:solidFill>
              <a:srgbClr val="2A70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07208" y="3383280"/>
            <a:ext cx="283464" cy="0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90672" y="3383280"/>
            <a:ext cx="0" cy="1362456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90672" y="4745736"/>
            <a:ext cx="384048" cy="0"/>
          </a:xfrm>
          <a:prstGeom prst="line">
            <a:avLst/>
          </a:prstGeom>
          <a:ln w="20320">
            <a:solidFill>
              <a:srgbClr val="2A70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29400" y="2148840"/>
            <a:ext cx="320040" cy="0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49440" y="2148840"/>
            <a:ext cx="0" cy="1033272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49440" y="3182112"/>
            <a:ext cx="365760" cy="0"/>
          </a:xfrm>
          <a:prstGeom prst="line">
            <a:avLst/>
          </a:prstGeom>
          <a:ln w="20320">
            <a:solidFill>
              <a:srgbClr val="2A70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29400" y="3383280"/>
            <a:ext cx="320040" cy="0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949440" y="3182112"/>
            <a:ext cx="0" cy="201168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49440" y="3182112"/>
            <a:ext cx="365760" cy="0"/>
          </a:xfrm>
          <a:prstGeom prst="line">
            <a:avLst/>
          </a:prstGeom>
          <a:ln w="20320">
            <a:solidFill>
              <a:srgbClr val="2A70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29400" y="4745736"/>
            <a:ext cx="320040" cy="0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949440" y="3182112"/>
            <a:ext cx="0" cy="1563624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49440" y="3182112"/>
            <a:ext cx="365760" cy="0"/>
          </a:xfrm>
          <a:prstGeom prst="line">
            <a:avLst/>
          </a:prstGeom>
          <a:ln w="20320">
            <a:solidFill>
              <a:srgbClr val="2A70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29800" y="3182112"/>
            <a:ext cx="411480" cy="0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241280" y="3182112"/>
            <a:ext cx="0" cy="0"/>
          </a:xfrm>
          <a:prstGeom prst="line">
            <a:avLst/>
          </a:prstGeom>
          <a:ln w="20320">
            <a:solidFill>
              <a:srgbClr val="2A7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41280" y="3182112"/>
            <a:ext cx="320040" cy="0"/>
          </a:xfrm>
          <a:prstGeom prst="line">
            <a:avLst/>
          </a:prstGeom>
          <a:ln w="20320">
            <a:solidFill>
              <a:srgbClr val="2A70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58784" y="4562856"/>
            <a:ext cx="0" cy="676656"/>
          </a:xfrm>
          <a:prstGeom prst="line">
            <a:avLst/>
          </a:prstGeom>
          <a:ln w="20320">
            <a:solidFill>
              <a:srgbClr val="2A70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35840" y="4562856"/>
            <a:ext cx="0" cy="676656"/>
          </a:xfrm>
          <a:prstGeom prst="line">
            <a:avLst/>
          </a:prstGeom>
          <a:ln w="20320">
            <a:solidFill>
              <a:srgbClr val="2A70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07208" y="6126480"/>
            <a:ext cx="411480" cy="0"/>
          </a:xfrm>
          <a:prstGeom prst="line">
            <a:avLst/>
          </a:prstGeom>
          <a:ln w="20320">
            <a:solidFill>
              <a:srgbClr val="B46D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18688" y="6126480"/>
            <a:ext cx="0" cy="420624"/>
          </a:xfrm>
          <a:prstGeom prst="line">
            <a:avLst/>
          </a:prstGeom>
          <a:ln w="20320">
            <a:solidFill>
              <a:srgbClr val="B46D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8688" y="6547104"/>
            <a:ext cx="3849624" cy="0"/>
          </a:xfrm>
          <a:prstGeom prst="line">
            <a:avLst/>
          </a:prstGeom>
          <a:ln w="20320">
            <a:solidFill>
              <a:srgbClr val="B46D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068312" y="4892040"/>
            <a:ext cx="0" cy="1655064"/>
          </a:xfrm>
          <a:prstGeom prst="line">
            <a:avLst/>
          </a:prstGeom>
          <a:ln w="20320">
            <a:solidFill>
              <a:srgbClr val="B46D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068312" y="4892040"/>
            <a:ext cx="4315968" cy="0"/>
          </a:xfrm>
          <a:prstGeom prst="line">
            <a:avLst/>
          </a:prstGeom>
          <a:ln w="20320">
            <a:solidFill>
              <a:srgbClr val="B46D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384280" y="4562856"/>
            <a:ext cx="0" cy="329184"/>
          </a:xfrm>
          <a:prstGeom prst="line">
            <a:avLst/>
          </a:prstGeom>
          <a:ln w="20320">
            <a:solidFill>
              <a:srgbClr val="B46D2E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807208" y="5010912"/>
            <a:ext cx="466344" cy="0"/>
          </a:xfrm>
          <a:prstGeom prst="line">
            <a:avLst/>
          </a:prstGeom>
          <a:ln w="20320">
            <a:solidFill>
              <a:srgbClr val="B46D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273552" y="2496312"/>
            <a:ext cx="0" cy="2514600"/>
          </a:xfrm>
          <a:prstGeom prst="line">
            <a:avLst/>
          </a:prstGeom>
          <a:ln w="20320">
            <a:solidFill>
              <a:srgbClr val="B46D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273552" y="2496312"/>
            <a:ext cx="201168" cy="0"/>
          </a:xfrm>
          <a:prstGeom prst="line">
            <a:avLst/>
          </a:prstGeom>
          <a:ln w="20320">
            <a:solidFill>
              <a:srgbClr val="B46D2E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273552" y="3721608"/>
            <a:ext cx="201168" cy="0"/>
          </a:xfrm>
          <a:prstGeom prst="line">
            <a:avLst/>
          </a:prstGeom>
          <a:ln w="20320">
            <a:solidFill>
              <a:srgbClr val="B46D2E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11480" y="1627632"/>
            <a:ext cx="2395728" cy="2404872"/>
          </a:xfrm>
          <a:prstGeom prst="roundRect">
            <a:avLst>
              <a:gd name="adj" fmla="val 9000"/>
            </a:avLst>
          </a:prstGeom>
          <a:solidFill>
            <a:srgbClr val="EAF3FA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1208" y="1719072"/>
            <a:ext cx="2176272" cy="28931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2A70A5"/>
                </a:solidFill>
                <a:latin typeface="Arial"/>
              </a:defRPr>
            </a:pPr>
            <a:r>
              <a:rPr sz="1400" dirty="0"/>
              <a:t>Physical inputs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" y="2139696"/>
            <a:ext cx="2176272" cy="155940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70" b="0">
                <a:solidFill>
                  <a:srgbClr val="18344C"/>
                </a:solidFill>
                <a:latin typeface="Arial"/>
              </a:defRPr>
            </a:pPr>
            <a:r>
              <a:rPr dirty="0"/>
              <a:t>Spot electricity prices</a:t>
            </a:r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70" b="0">
                <a:solidFill>
                  <a:srgbClr val="18344C"/>
                </a:solidFill>
                <a:latin typeface="Arial"/>
              </a:defRPr>
            </a:pPr>
            <a:r>
              <a:rPr dirty="0"/>
              <a:t>PV generation</a:t>
            </a:r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70" b="0">
                <a:solidFill>
                  <a:srgbClr val="18344C"/>
                </a:solidFill>
                <a:latin typeface="Arial"/>
              </a:defRPr>
            </a:pPr>
            <a:r>
              <a:rPr dirty="0"/>
              <a:t>Reference demand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70" b="0">
                <a:solidFill>
                  <a:srgbClr val="18344C"/>
                </a:solidFill>
                <a:latin typeface="Arial"/>
              </a:defRPr>
            </a:pPr>
            <a:endParaRPr dirty="0"/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70" b="0">
                <a:solidFill>
                  <a:srgbClr val="18344C"/>
                </a:solidFill>
                <a:latin typeface="Arial"/>
              </a:defRPr>
            </a:pPr>
            <a:r>
              <a:rPr dirty="0"/>
              <a:t>Battery limits, losses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70" b="0">
                <a:solidFill>
                  <a:srgbClr val="18344C"/>
                </a:solidFill>
                <a:latin typeface="Arial"/>
              </a:defRPr>
            </a:pPr>
            <a:r>
              <a:rPr dirty="0"/>
              <a:t>and operating costs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79" y="4315968"/>
            <a:ext cx="2496313" cy="2157984"/>
          </a:xfrm>
          <a:prstGeom prst="roundRect">
            <a:avLst>
              <a:gd name="adj" fmla="val 9000"/>
            </a:avLst>
          </a:prstGeom>
          <a:solidFill>
            <a:srgbClr val="FBF2E9"/>
          </a:solidFill>
          <a:ln w="12700">
            <a:solidFill>
              <a:srgbClr val="B46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9496" y="4304323"/>
            <a:ext cx="2176272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B46D2E"/>
                </a:solidFill>
                <a:latin typeface="Arial"/>
              </a:defRPr>
            </a:pPr>
            <a:r>
              <a:rPr sz="1200" dirty="0"/>
              <a:t>Hourly preferences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" y="4596612"/>
            <a:ext cx="2176272" cy="184358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370" b="0">
                <a:solidFill>
                  <a:srgbClr val="18344C"/>
                </a:solidFill>
                <a:latin typeface="Arial"/>
              </a:defRPr>
            </a:pPr>
            <a:r>
              <a:rPr sz="1100" dirty="0"/>
              <a:t>α = 0.20 / 0.25 / 0.30</a:t>
            </a:r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370" b="0">
                <a:solidFill>
                  <a:srgbClr val="18344C"/>
                </a:solidFill>
                <a:latin typeface="Arial"/>
              </a:defRPr>
            </a:pPr>
            <a:r>
              <a:rPr lang="el-GR" sz="1100" dirty="0"/>
              <a:t>ω</a:t>
            </a:r>
            <a:r>
              <a:rPr lang="en-US" sz="1100" baseline="-25000" dirty="0"/>
              <a:t>t</a:t>
            </a:r>
            <a:r>
              <a:rPr lang="en-US" sz="1100" dirty="0"/>
              <a:t>: time slots intraday template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370" b="0">
                <a:solidFill>
                  <a:srgbClr val="18344C"/>
                </a:solidFill>
                <a:latin typeface="Arial"/>
              </a:defRPr>
            </a:pPr>
            <a:r>
              <a:rPr lang="en-US" sz="1100" dirty="0"/>
              <a:t>Under Strategies A and B, α enters the rule determining how much photovoltaic electricity is self-consumed directly </a:t>
            </a:r>
            <a:endParaRPr sz="1100" baseline="-25000" dirty="0"/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370" b="0">
                <a:solidFill>
                  <a:srgbClr val="18344C"/>
                </a:solidFill>
                <a:latin typeface="Arial"/>
              </a:defRPr>
            </a:pPr>
            <a:r>
              <a:rPr lang="en-US" sz="1100" dirty="0"/>
              <a:t>Energy flows </a:t>
            </a:r>
            <a:r>
              <a:rPr sz="1100" dirty="0"/>
              <a:t>allocation and</a:t>
            </a:r>
            <a:r>
              <a:rPr lang="en-US" sz="1100" dirty="0"/>
              <a:t> </a:t>
            </a:r>
            <a:r>
              <a:rPr sz="1100" dirty="0"/>
              <a:t>post-dispatch</a:t>
            </a:r>
            <a:r>
              <a:rPr lang="en-US" sz="1100" dirty="0"/>
              <a:t> </a:t>
            </a:r>
            <a:r>
              <a:rPr sz="1100" dirty="0"/>
              <a:t>valuation.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74720" y="1627632"/>
            <a:ext cx="3154680" cy="1051560"/>
          </a:xfrm>
          <a:prstGeom prst="roundRect">
            <a:avLst>
              <a:gd name="adj" fmla="val 9000"/>
            </a:avLst>
          </a:prstGeom>
          <a:solidFill>
            <a:srgbClr val="EAF3FA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84448" y="1719072"/>
            <a:ext cx="2935224" cy="28931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2A70A5"/>
                </a:solidFill>
                <a:latin typeface="Arial"/>
              </a:defRPr>
            </a:pPr>
            <a:r>
              <a:rPr lang="en-US" sz="1400" dirty="0"/>
              <a:t>Strategy </a:t>
            </a:r>
            <a:r>
              <a:rPr sz="1400" dirty="0"/>
              <a:t>A </a:t>
            </a:r>
            <a:r>
              <a:rPr lang="en-US" sz="1400" dirty="0"/>
              <a:t>:</a:t>
            </a:r>
            <a:r>
              <a:rPr sz="1400" dirty="0"/>
              <a:t> fixed-threshold rules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4448" y="2139696"/>
            <a:ext cx="2935224" cy="46634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30" b="0">
                <a:solidFill>
                  <a:srgbClr val="18344C"/>
                </a:solidFill>
                <a:latin typeface="Arial"/>
              </a:defRPr>
            </a:pPr>
            <a:r>
              <a:t>Direct PV rule; PV charging.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30" b="0">
                <a:solidFill>
                  <a:srgbClr val="18344C"/>
                </a:solidFill>
                <a:latin typeface="Arial"/>
              </a:defRPr>
            </a:pPr>
            <a:r>
              <a:t>Discharge to household load.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74720" y="2834640"/>
            <a:ext cx="3154680" cy="1097280"/>
          </a:xfrm>
          <a:prstGeom prst="roundRect">
            <a:avLst>
              <a:gd name="adj" fmla="val 9000"/>
            </a:avLst>
          </a:prstGeom>
          <a:solidFill>
            <a:srgbClr val="EEF6F0"/>
          </a:solidFill>
          <a:ln w="12700">
            <a:solidFill>
              <a:srgbClr val="3A8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84448" y="2926080"/>
            <a:ext cx="2935224" cy="5970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3A8563"/>
                </a:solidFill>
                <a:latin typeface="Arial"/>
              </a:defRPr>
            </a:pPr>
            <a:r>
              <a:rPr lang="en-US" dirty="0"/>
              <a:t>Strategy </a:t>
            </a:r>
            <a:r>
              <a:rPr dirty="0"/>
              <a:t>B</a:t>
            </a:r>
            <a:r>
              <a:rPr lang="en-US" dirty="0"/>
              <a:t>:</a:t>
            </a:r>
            <a:r>
              <a:rPr dirty="0"/>
              <a:t> adaptive price rules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84448" y="3346704"/>
            <a:ext cx="2935224" cy="51206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20" b="0">
                <a:solidFill>
                  <a:srgbClr val="18344C"/>
                </a:solidFill>
                <a:latin typeface="Arial"/>
              </a:defRPr>
            </a:pPr>
            <a:r>
              <a:t>Direct PV rule; price look-ahead.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20" b="0">
                <a:solidFill>
                  <a:srgbClr val="18344C"/>
                </a:solidFill>
                <a:latin typeface="Arial"/>
              </a:defRPr>
            </a:pPr>
            <a:r>
              <a:t>Grid charging; battery export.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74720" y="4160520"/>
            <a:ext cx="3154680" cy="1280160"/>
          </a:xfrm>
          <a:prstGeom prst="roundRect">
            <a:avLst>
              <a:gd name="adj" fmla="val 9000"/>
            </a:avLst>
          </a:prstGeom>
          <a:solidFill>
            <a:srgbClr val="FBF2E9"/>
          </a:solidFill>
          <a:ln w="12700">
            <a:solidFill>
              <a:srgbClr val="B46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84448" y="4251959"/>
            <a:ext cx="2935224" cy="28931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B46D2E"/>
                </a:solidFill>
                <a:latin typeface="Arial"/>
              </a:defRPr>
            </a:pPr>
            <a:r>
              <a:rPr lang="en-US" sz="1400" dirty="0"/>
              <a:t>Strategy: </a:t>
            </a:r>
            <a:r>
              <a:rPr sz="1400" dirty="0"/>
              <a:t>C</a:t>
            </a:r>
            <a:r>
              <a:rPr lang="en-US" sz="1400" dirty="0"/>
              <a:t> </a:t>
            </a:r>
            <a:r>
              <a:rPr sz="1400" dirty="0"/>
              <a:t>rolling optimi</a:t>
            </a:r>
            <a:r>
              <a:rPr lang="en-US" sz="1400" dirty="0"/>
              <a:t>z</a:t>
            </a:r>
            <a:r>
              <a:rPr sz="1400" dirty="0"/>
              <a:t>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84448" y="4523599"/>
            <a:ext cx="2935224" cy="86382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80" b="0">
                <a:solidFill>
                  <a:srgbClr val="18344C"/>
                </a:solidFill>
                <a:latin typeface="Arial"/>
              </a:defRPr>
            </a:pPr>
            <a:r>
              <a:rPr sz="1200" dirty="0"/>
              <a:t>Hourly re-solved 24 h schedule.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80" b="0">
                <a:solidFill>
                  <a:srgbClr val="18344C"/>
                </a:solidFill>
                <a:latin typeface="Arial"/>
              </a:defRPr>
            </a:pPr>
            <a:r>
              <a:rPr lang="en-US" sz="1200" dirty="0"/>
              <a:t>price</a:t>
            </a:r>
            <a:r>
              <a:rPr sz="1200" dirty="0"/>
              <a:t>-</a:t>
            </a:r>
            <a:r>
              <a:rPr lang="en-US" sz="1200" dirty="0"/>
              <a:t>oriented</a:t>
            </a:r>
            <a:r>
              <a:rPr sz="1200" dirty="0"/>
              <a:t> objective.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80" b="0">
                <a:solidFill>
                  <a:srgbClr val="18344C"/>
                </a:solidFill>
                <a:latin typeface="Arial"/>
              </a:defRPr>
            </a:pPr>
            <a:r>
              <a:rPr lang="en-US" sz="1200" dirty="0"/>
              <a:t>Schedule of the operating decisions are independent of </a:t>
            </a:r>
            <a:r>
              <a:rPr lang="el-GR" sz="1200" dirty="0"/>
              <a:t>α </a:t>
            </a:r>
            <a:r>
              <a:rPr lang="en-US" sz="1200" dirty="0"/>
              <a:t>and</a:t>
            </a:r>
            <a:r>
              <a:rPr lang="el-GR" sz="1200" dirty="0"/>
              <a:t> ω</a:t>
            </a:r>
            <a:r>
              <a:rPr lang="en-US" sz="1200" baseline="-25000" dirty="0"/>
              <a:t>t</a:t>
            </a:r>
            <a:endParaRPr sz="1200" baseline="-25000" dirty="0"/>
          </a:p>
        </p:txBody>
      </p:sp>
      <p:sp>
        <p:nvSpPr>
          <p:cNvPr id="56" name="Rounded Rectangle 55"/>
          <p:cNvSpPr/>
          <p:nvPr/>
        </p:nvSpPr>
        <p:spPr>
          <a:xfrm>
            <a:off x="7315200" y="1947672"/>
            <a:ext cx="2514600" cy="2615184"/>
          </a:xfrm>
          <a:prstGeom prst="roundRect">
            <a:avLst>
              <a:gd name="adj" fmla="val 9000"/>
            </a:avLst>
          </a:prstGeom>
          <a:solidFill>
            <a:srgbClr val="F2F6F9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24927" y="2039112"/>
            <a:ext cx="2295144" cy="35661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2A70A5"/>
                </a:solidFill>
                <a:latin typeface="Arial"/>
              </a:defRPr>
            </a:pPr>
            <a:r>
              <a:t>Energy trajectory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24927" y="2459736"/>
            <a:ext cx="2295144" cy="190103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380" b="0">
                <a:solidFill>
                  <a:srgbClr val="18344C"/>
                </a:solidFill>
                <a:latin typeface="Arial"/>
              </a:defRPr>
            </a:pPr>
            <a:r>
              <a:rPr dirty="0"/>
              <a:t>PV use; charge / discharge</a:t>
            </a:r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380" b="0">
                <a:solidFill>
                  <a:srgbClr val="18344C"/>
                </a:solidFill>
                <a:latin typeface="Arial"/>
              </a:defRPr>
            </a:pPr>
            <a:r>
              <a:rPr dirty="0"/>
              <a:t>Grid imports and exports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80" b="0">
                <a:solidFill>
                  <a:srgbClr val="18344C"/>
                </a:solidFill>
                <a:latin typeface="Arial"/>
              </a:defRPr>
            </a:pPr>
            <a:endParaRPr dirty="0"/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380" b="0">
                <a:solidFill>
                  <a:srgbClr val="18344C"/>
                </a:solidFill>
                <a:latin typeface="Arial"/>
              </a:defRPr>
            </a:pPr>
            <a:r>
              <a:rPr dirty="0"/>
              <a:t>Continuous SOC</a:t>
            </a:r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380" b="0">
                <a:solidFill>
                  <a:srgbClr val="18344C"/>
                </a:solidFill>
                <a:latin typeface="Arial"/>
              </a:defRPr>
            </a:pPr>
            <a:r>
              <a:rPr dirty="0"/>
              <a:t>Feasibility checks</a:t>
            </a:r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380" b="0">
                <a:solidFill>
                  <a:srgbClr val="18344C"/>
                </a:solidFill>
                <a:latin typeface="Arial"/>
              </a:defRPr>
            </a:pPr>
            <a:r>
              <a:rPr lang="en-US" dirty="0"/>
              <a:t>Energy flows allocation</a:t>
            </a:r>
            <a:r>
              <a:rPr dirty="0"/>
              <a:t> snapshots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61320" y="1947672"/>
            <a:ext cx="3657600" cy="2615184"/>
          </a:xfrm>
          <a:prstGeom prst="roundRect">
            <a:avLst>
              <a:gd name="adj" fmla="val 9000"/>
            </a:avLst>
          </a:prstGeom>
          <a:solidFill>
            <a:srgbClr val="F2F6F9"/>
          </a:solidFill>
          <a:ln w="12700">
            <a:solidFill>
              <a:srgbClr val="147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671048" y="2039112"/>
            <a:ext cx="3438144" cy="35661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147D87"/>
                </a:solidFill>
                <a:latin typeface="Arial"/>
              </a:defRPr>
            </a:pPr>
            <a:r>
              <a:t>Post-dispatch valuation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71048" y="2459736"/>
            <a:ext cx="3438144" cy="217187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b="0">
                <a:solidFill>
                  <a:srgbClr val="18344C"/>
                </a:solidFill>
                <a:latin typeface="Arial"/>
              </a:defRPr>
            </a:pPr>
            <a:r>
              <a:rPr dirty="0"/>
              <a:t>Analytical P2P price rule</a:t>
            </a:r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b="0">
                <a:solidFill>
                  <a:srgbClr val="18344C"/>
                </a:solidFill>
                <a:latin typeface="Arial"/>
              </a:defRPr>
            </a:pPr>
            <a:r>
              <a:rPr dirty="0"/>
              <a:t>All exports as injection proxy</a:t>
            </a:r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b="0">
                <a:solidFill>
                  <a:srgbClr val="18344C"/>
                </a:solidFill>
                <a:latin typeface="Arial"/>
              </a:defRPr>
            </a:pPr>
            <a:r>
              <a:rPr dirty="0"/>
              <a:t>Consumption and buyer utilities</a:t>
            </a:r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b="0">
                <a:solidFill>
                  <a:srgbClr val="18344C"/>
                </a:solidFill>
                <a:latin typeface="Arial"/>
              </a:defRPr>
            </a:pPr>
            <a:r>
              <a:rPr dirty="0"/>
              <a:t>Reported SW and surplus indicators</a:t>
            </a:r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b="0">
                <a:solidFill>
                  <a:srgbClr val="18344C"/>
                </a:solidFill>
                <a:latin typeface="Arial"/>
              </a:defRPr>
            </a:pPr>
            <a:r>
              <a:rPr dirty="0"/>
              <a:t>Utility-indifference price benchmark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18344C"/>
                </a:solidFill>
                <a:latin typeface="Arial"/>
              </a:defRPr>
            </a:pPr>
            <a:endParaRPr dirty="0"/>
          </a:p>
        </p:txBody>
      </p:sp>
      <p:sp>
        <p:nvSpPr>
          <p:cNvPr id="62" name="Rounded Rectangle 61"/>
          <p:cNvSpPr/>
          <p:nvPr/>
        </p:nvSpPr>
        <p:spPr>
          <a:xfrm>
            <a:off x="7315200" y="5239512"/>
            <a:ext cx="6903720" cy="1508760"/>
          </a:xfrm>
          <a:prstGeom prst="roundRect">
            <a:avLst>
              <a:gd name="adj" fmla="val 9000"/>
            </a:avLst>
          </a:prstGeom>
          <a:solidFill>
            <a:srgbClr val="EAF3FA"/>
          </a:solidFill>
          <a:ln w="12700">
            <a:solidFill>
              <a:srgbClr val="147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24927" y="5330952"/>
            <a:ext cx="6684264" cy="35661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147D87"/>
                </a:solidFill>
                <a:latin typeface="Arial"/>
              </a:defRPr>
            </a:pPr>
            <a:r>
              <a:t>Reporting and secondary analysis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24927" y="5609566"/>
            <a:ext cx="6684264" cy="107927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550" b="0">
                <a:solidFill>
                  <a:srgbClr val="18344C"/>
                </a:solidFill>
                <a:latin typeface="Arial"/>
              </a:defRPr>
            </a:pPr>
            <a:r>
              <a:rPr dirty="0"/>
              <a:t>Hourly results → daily / monthly / annual summaries</a:t>
            </a:r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550" b="0">
                <a:solidFill>
                  <a:srgbClr val="18344C"/>
                </a:solidFill>
                <a:latin typeface="Arial"/>
              </a:defRPr>
            </a:pPr>
            <a:r>
              <a:rPr lang="en-US" dirty="0"/>
              <a:t>Coefficient </a:t>
            </a:r>
            <a:r>
              <a:rPr dirty="0"/>
              <a:t>α comparisons; active-sample price medians; descriptive Fourier profiles</a:t>
            </a:r>
          </a:p>
          <a:p>
            <a:pPr marL="285750" indent="-28575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550" b="0">
                <a:solidFill>
                  <a:srgbClr val="18344C"/>
                </a:solidFill>
                <a:latin typeface="Arial"/>
              </a:defRPr>
            </a:pPr>
            <a:r>
              <a:rPr dirty="0"/>
              <a:t>Fourier analysis is post-processing, not part of the dispatch controller.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7D87"/>
          </a:solidFill>
          <a:ln w="12700">
            <a:solidFill>
              <a:srgbClr val="147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49224"/>
            <a:ext cx="137160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43F61"/>
                </a:solidFill>
                <a:latin typeface="Arial"/>
              </a:defRPr>
            </a:pPr>
            <a:r>
              <a:rPr dirty="0"/>
              <a:t>Dispatch strategies</a:t>
            </a:r>
            <a:r>
              <a:rPr lang="en-US" dirty="0"/>
              <a:t>.</a:t>
            </a:r>
            <a:r>
              <a:rPr dirty="0"/>
              <a:t> </a:t>
            </a:r>
            <a:r>
              <a:rPr lang="en-US" dirty="0"/>
              <a:t>I</a:t>
            </a:r>
            <a:r>
              <a:rPr dirty="0"/>
              <a:t>mplementation-aligned pseudocode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52144"/>
            <a:ext cx="4453128" cy="6330898"/>
          </a:xfrm>
          <a:prstGeom prst="roundRect">
            <a:avLst>
              <a:gd name="adj" fmla="val 9000"/>
            </a:avLst>
          </a:prstGeom>
          <a:solidFill>
            <a:srgbClr val="EAF3FA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351808"/>
            <a:ext cx="4233672" cy="3662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2A70A5"/>
                </a:solidFill>
                <a:latin typeface="Arial"/>
              </a:defRPr>
            </a:pPr>
            <a:r>
              <a:rPr dirty="0"/>
              <a:t>A  fixed-threshold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40280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40280"/>
            <a:ext cx="3712463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alculate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PV use from α, hourly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price, PV and demand.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953512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953512"/>
            <a:ext cx="3712463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usable-energy self-discharge; carry SOC across 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666744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666744"/>
            <a:ext cx="3712463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dirty="0"/>
              <a:t>Set daily price thresholds at 1/3 and 2/3 of the min–max range.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4379976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379976"/>
            <a:ext cx="3712463" cy="54476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low price, charge eligible PV surplus within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limits.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5093208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093208"/>
            <a:ext cx="3712463" cy="54476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high price, discharge to residual household demand within reserve limits</a:t>
            </a:r>
            <a:r>
              <a:rPr dirty="0"/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5806440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806440"/>
            <a:ext cx="3712463" cy="54476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discharge priority if candidates overlap; update SOC and store flows</a:t>
            </a:r>
            <a:r>
              <a:rPr dirty="0"/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4064" y="1152144"/>
            <a:ext cx="4343400" cy="6330898"/>
          </a:xfrm>
          <a:prstGeom prst="roundRect">
            <a:avLst>
              <a:gd name="adj" fmla="val 9000"/>
            </a:avLst>
          </a:prstGeom>
          <a:solidFill>
            <a:srgbClr val="EEF6F0"/>
          </a:solidFill>
          <a:ln w="12700">
            <a:solidFill>
              <a:srgbClr val="3A8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48655" y="1273963"/>
            <a:ext cx="4233672" cy="3662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3A8563"/>
                </a:solidFill>
                <a:latin typeface="Arial"/>
              </a:defRPr>
            </a:pPr>
            <a:r>
              <a:rPr dirty="0"/>
              <a:t>B  adaptive 24 h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2031272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rPr dirty="0"/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9843" y="1972713"/>
            <a:ext cx="3712463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same direct-PV rule and continuous SOC accounting as 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3218" y="2695975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rPr dirty="0"/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1556" y="2675025"/>
            <a:ext cx="3712463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up to 24 supplied future prices; set 0.30 / 0.70 range thresholds.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3776471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rPr dirty="0"/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3504828"/>
            <a:ext cx="3712463" cy="136652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just"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whether charging for later self-consumption or sale is worthwhile over the next 24 hours. Allow discharge only above a predefined reserve of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10% of battery capacity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increased 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 during Hours 17–22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retain a larger evening reserve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89805" y="5021497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rPr dirty="0"/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0135" y="5058032"/>
            <a:ext cx="3712463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PV surplus, charge PV when low-price OR arbitrage criteria hold.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8655" y="5675476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7566" y="5649484"/>
            <a:ext cx="3712463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PV surplus, charge from grid only when low-price AND arbitrage criteria hold.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2372" y="6547180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rPr dirty="0"/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0135" y="6432726"/>
            <a:ext cx="3712463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high price, serve load first, then export; prevent simultaneous charge/discharge.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56648" y="1152144"/>
            <a:ext cx="4453128" cy="6330898"/>
          </a:xfrm>
          <a:prstGeom prst="roundRect">
            <a:avLst>
              <a:gd name="adj" fmla="val 9000"/>
            </a:avLst>
          </a:prstGeom>
          <a:solidFill>
            <a:srgbClr val="FBF2E9"/>
          </a:solidFill>
          <a:ln w="12700">
            <a:solidFill>
              <a:srgbClr val="B46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66376" y="1283106"/>
            <a:ext cx="4233672" cy="3662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B46D2E"/>
                </a:solidFill>
                <a:latin typeface="Arial"/>
              </a:defRPr>
            </a:pPr>
            <a:r>
              <a:rPr dirty="0"/>
              <a:t>C  hourly rolling </a:t>
            </a:r>
            <a:r>
              <a:rPr dirty="0" err="1"/>
              <a:t>optimisation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9774937" y="1710719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rPr dirty="0"/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2137" y="1599712"/>
            <a:ext cx="3712463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direct PV use at min(load, PV); start with the current SOC.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1512" y="2151115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rPr dirty="0"/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2111288"/>
            <a:ext cx="3712463" cy="50475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a window of min(24, remaining hours) using supplied price/PV/load data.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4" y="2919048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rPr dirty="0"/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59" y="2679192"/>
            <a:ext cx="3712463" cy="93564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just"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Minimise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electricity purchasing and battery wear costs, accounting for assumed export revenues and predefined incentives for PV storage and reduced grid imports during high-price hours.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825225" y="3776472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rPr dirty="0"/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22985" y="3567600"/>
            <a:ext cx="3712463" cy="15819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constraints of energy balance, SOC continuity and battery power limits, applying their respective reserve rules, as in strategies A and B. additionally require 90% SOC at the end of each planning window (only as a pre-determined model choice for C, not as an optimum level derived by any solver).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9225" y="5542053"/>
            <a:ext cx="329184" cy="30931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rPr dirty="0"/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22986" y="5211812"/>
            <a:ext cx="3712463" cy="11510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solve using Linear Programming (LP). If the solution schedules simultaneous charging and discharging, use Mixed-Integer Programming (MIP) with binary switches to prevent both within the same hour.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843512" y="6670195"/>
            <a:ext cx="329184" cy="60350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30" b="1">
                <a:solidFill>
                  <a:srgbClr val="147D87"/>
                </a:solidFill>
                <a:latin typeface="Arial"/>
              </a:defRPr>
            </a:pPr>
            <a:r>
              <a:rPr dirty="0"/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5559" y="6352763"/>
            <a:ext cx="3886200" cy="11510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just">
              <a:spcAft>
                <a:spcPts val="200"/>
              </a:spcAft>
              <a:defRPr sz="1530" b="0">
                <a:solidFill>
                  <a:srgbClr val="18344C"/>
                </a:solidFill>
                <a:latin typeface="Arial"/>
              </a:defRPr>
            </a:pP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pply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current hour’s decision, update stored energy, and repeat the 24-hour optimization hourly. Reuse each capacity’s annual schedule across 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values, recalculating utility and welfare for each case.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11480" y="7626247"/>
            <a:ext cx="13395960" cy="30469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43F61"/>
                </a:solidFill>
                <a:latin typeface="Arial"/>
              </a:defRPr>
            </a:pPr>
            <a:r>
              <a:rPr dirty="0"/>
              <a:t>COMMON FINAL STEP    </a:t>
            </a:r>
            <a:r>
              <a:rPr lang="en-US" dirty="0"/>
              <a:t>Calculate</a:t>
            </a:r>
            <a:r>
              <a:rPr dirty="0"/>
              <a:t> utility, P2P prices and reported welfare after the operating trajectory is known.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147D87"/>
          </a:solidFill>
          <a:ln w="12700">
            <a:solidFill>
              <a:srgbClr val="147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649224"/>
            <a:ext cx="1371600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143F61"/>
                </a:solidFill>
                <a:latin typeface="Arial"/>
              </a:defRPr>
            </a:pPr>
            <a:r>
              <a:rPr lang="en-US" dirty="0"/>
              <a:t>I</a:t>
            </a:r>
            <a:r>
              <a:rPr dirty="0"/>
              <a:t>llustration</a:t>
            </a:r>
            <a:r>
              <a:rPr lang="en-US" dirty="0"/>
              <a:t>:</a:t>
            </a:r>
            <a:r>
              <a:rPr dirty="0"/>
              <a:t> architecture and pseudocode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19072"/>
            <a:ext cx="1874519" cy="5394960"/>
          </a:xfrm>
          <a:prstGeom prst="roundRect">
            <a:avLst>
              <a:gd name="adj" fmla="val 9000"/>
            </a:avLst>
          </a:prstGeom>
          <a:solidFill>
            <a:srgbClr val="EAF3FA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865376"/>
            <a:ext cx="1746503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43F61"/>
                </a:solidFill>
                <a:latin typeface="Arial"/>
              </a:defRPr>
            </a:pPr>
            <a:r>
              <a:t>Inputs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2" y="1719072"/>
            <a:ext cx="1993392" cy="5394960"/>
          </a:xfrm>
          <a:prstGeom prst="roundRect">
            <a:avLst>
              <a:gd name="adj" fmla="val 9000"/>
            </a:avLst>
          </a:prstGeom>
          <a:solidFill>
            <a:srgbClr val="EAF3FA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79" y="1865376"/>
            <a:ext cx="1865376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43F61"/>
                </a:solidFill>
                <a:latin typeface="Arial"/>
              </a:defRPr>
            </a:pPr>
            <a:r>
              <a:t>Simulation engine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43F61"/>
                </a:solidFill>
                <a:latin typeface="Arial"/>
              </a:defRPr>
            </a:pPr>
            <a:r>
              <a:t>(8,760 hours)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719072"/>
            <a:ext cx="1828800" cy="5394960"/>
          </a:xfrm>
          <a:prstGeom prst="roundRect">
            <a:avLst>
              <a:gd name="adj" fmla="val 9000"/>
            </a:avLst>
          </a:prstGeom>
          <a:solidFill>
            <a:srgbClr val="EAF3FA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1768" y="1865376"/>
            <a:ext cx="1700784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43F61"/>
                </a:solidFill>
                <a:latin typeface="Arial"/>
              </a:defRPr>
            </a:pPr>
            <a: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2551176"/>
            <a:ext cx="1581912" cy="5852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" y="2578608"/>
            <a:ext cx="1490472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18344C"/>
                </a:solidFill>
                <a:latin typeface="Arial"/>
              </a:defRPr>
            </a:pPr>
            <a:r>
              <a:t>Electricity prices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18344C"/>
                </a:solidFill>
                <a:latin typeface="Arial"/>
              </a:defRPr>
            </a:pPr>
            <a:r>
              <a:t>(pₜ)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3246120"/>
            <a:ext cx="1581912" cy="5852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" y="3273552"/>
            <a:ext cx="1490472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18344C"/>
                </a:solidFill>
                <a:latin typeface="Arial"/>
              </a:defRPr>
            </a:pPr>
            <a:r>
              <a:t>PV generation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18344C"/>
                </a:solidFill>
                <a:latin typeface="Arial"/>
              </a:defRPr>
            </a:pPr>
            <a:r>
              <a:t>(Gₜ)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3941064"/>
            <a:ext cx="1581912" cy="5852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" y="3968496"/>
            <a:ext cx="1490472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18344C"/>
                </a:solidFill>
                <a:latin typeface="Arial"/>
              </a:defRPr>
            </a:pPr>
            <a:r>
              <a:t>Household demand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18344C"/>
                </a:solidFill>
                <a:latin typeface="Arial"/>
              </a:defRPr>
            </a:pPr>
            <a:r>
              <a:t>(Dₜ)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4636008"/>
            <a:ext cx="1581912" cy="5852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" y="4663440"/>
            <a:ext cx="1490472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18344C"/>
                </a:solidFill>
                <a:latin typeface="Arial"/>
              </a:defRPr>
            </a:pPr>
            <a:r>
              <a:t>Battery parameters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18344C"/>
                </a:solidFill>
                <a:latin typeface="Arial"/>
              </a:defRPr>
            </a:pPr>
            <a:r>
              <a:t>(Emax, ηch/dis, degr.)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5330952"/>
            <a:ext cx="1581912" cy="5852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" y="5358383"/>
            <a:ext cx="1490472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18344C"/>
                </a:solidFill>
                <a:latin typeface="Arial"/>
              </a:defRPr>
            </a:pPr>
            <a:r>
              <a:t>Utility function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18344C"/>
                </a:solidFill>
                <a:latin typeface="Arial"/>
              </a:defRPr>
            </a:pPr>
            <a:r>
              <a:t>U(Cₜ)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" y="6025896"/>
            <a:ext cx="1581912" cy="58521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" y="6053327"/>
            <a:ext cx="1490472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18344C"/>
                </a:solidFill>
                <a:latin typeface="Arial"/>
              </a:defRPr>
            </a:pPr>
            <a:r>
              <a:t>P2P market settings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18344C"/>
                </a:solidFill>
                <a:latin typeface="Arial"/>
              </a:defRPr>
            </a:pPr>
            <a:r>
              <a:t>(α, λ, matching)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79776" y="2679192"/>
            <a:ext cx="1700784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43784" y="2715768"/>
            <a:ext cx="1572768" cy="58521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40" b="0">
                <a:solidFill>
                  <a:srgbClr val="18344C"/>
                </a:solidFill>
                <a:latin typeface="Arial"/>
              </a:defRPr>
            </a:pPr>
            <a:r>
              <a:t>Demand response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40" b="0">
                <a:solidFill>
                  <a:srgbClr val="18344C"/>
                </a:solidFill>
                <a:latin typeface="Arial"/>
              </a:defRPr>
            </a:pPr>
            <a:r>
              <a:t>(utility-based)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79776" y="3483864"/>
            <a:ext cx="1700784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43784" y="3520440"/>
            <a:ext cx="1572768" cy="58521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40" b="0">
                <a:solidFill>
                  <a:srgbClr val="18344C"/>
                </a:solidFill>
                <a:latin typeface="Arial"/>
              </a:defRPr>
            </a:pPr>
            <a:r>
              <a:t>Battery dispatch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40" b="0">
                <a:solidFill>
                  <a:srgbClr val="18344C"/>
                </a:solidFill>
                <a:latin typeface="Arial"/>
              </a:defRPr>
            </a:pPr>
            <a:r>
              <a:t>(Strategy A / B / C)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9776" y="4288536"/>
            <a:ext cx="1700784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43784" y="4325112"/>
            <a:ext cx="1572768" cy="58521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40" b="0">
                <a:solidFill>
                  <a:srgbClr val="18344C"/>
                </a:solidFill>
                <a:latin typeface="Arial"/>
              </a:defRPr>
            </a:pPr>
            <a:r>
              <a:t>Grid interaction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79776" y="5093208"/>
            <a:ext cx="1700784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43784" y="5129784"/>
            <a:ext cx="1572768" cy="58521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40" b="0">
                <a:solidFill>
                  <a:srgbClr val="18344C"/>
                </a:solidFill>
                <a:latin typeface="Arial"/>
              </a:defRPr>
            </a:pPr>
            <a:r>
              <a:t>P2P trading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240" b="0">
                <a:solidFill>
                  <a:srgbClr val="18344C"/>
                </a:solidFill>
                <a:latin typeface="Arial"/>
              </a:defRPr>
            </a:pPr>
            <a:r>
              <a:t>(blockchain market)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79776" y="5897880"/>
            <a:ext cx="1700784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43784" y="5934456"/>
            <a:ext cx="1572768" cy="58521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240" b="0">
                <a:solidFill>
                  <a:srgbClr val="18344C"/>
                </a:solidFill>
                <a:latin typeface="Arial"/>
              </a:defRPr>
            </a:pPr>
            <a:r>
              <a:t>Welfare calculation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65776" y="2487168"/>
            <a:ext cx="1572768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11496" y="2505456"/>
            <a:ext cx="1481328" cy="4937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18344C"/>
                </a:solidFill>
                <a:latin typeface="Arial"/>
              </a:defRPr>
            </a:pPr>
            <a:r>
              <a:t>SOCₜ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65776" y="3095244"/>
            <a:ext cx="1572768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11496" y="3113532"/>
            <a:ext cx="1481328" cy="4937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18344C"/>
                </a:solidFill>
                <a:latin typeface="Arial"/>
              </a:defRPr>
            </a:pPr>
            <a:r>
              <a:t>Energy flows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18344C"/>
                </a:solidFill>
                <a:latin typeface="Arial"/>
              </a:defRPr>
            </a:pPr>
            <a:r>
              <a:t>(PV, battery, grid, P2P)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65776" y="3703320"/>
            <a:ext cx="1572768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11496" y="3721608"/>
            <a:ext cx="1481328" cy="4937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18344C"/>
                </a:solidFill>
                <a:latin typeface="Arial"/>
              </a:defRPr>
            </a:pPr>
            <a:r>
              <a:t>Self-consumption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65776" y="4311396"/>
            <a:ext cx="1572768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11496" y="4329684"/>
            <a:ext cx="1481328" cy="4937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18344C"/>
                </a:solidFill>
                <a:latin typeface="Arial"/>
              </a:defRPr>
            </a:pPr>
            <a:r>
              <a:t>P2P volumes and prices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65776" y="4919472"/>
            <a:ext cx="1572768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11496" y="4937760"/>
            <a:ext cx="1481328" cy="4937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18344C"/>
                </a:solidFill>
                <a:latin typeface="Arial"/>
              </a:defRPr>
            </a:pPr>
            <a:r>
              <a:t>Prosumer utility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18344C"/>
                </a:solidFill>
                <a:latin typeface="Arial"/>
              </a:defRPr>
            </a:pPr>
            <a:r>
              <a:t>and surplus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65776" y="5527548"/>
            <a:ext cx="1572768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11496" y="5545836"/>
            <a:ext cx="1481328" cy="4937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18344C"/>
                </a:solidFill>
                <a:latin typeface="Arial"/>
              </a:defRPr>
            </a:pPr>
            <a:r>
              <a:t>Grid dependence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65776" y="6135624"/>
            <a:ext cx="1572768" cy="5303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111496" y="6153912"/>
            <a:ext cx="1481328" cy="4937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18344C"/>
                </a:solidFill>
                <a:latin typeface="Arial"/>
              </a:defRPr>
            </a:pPr>
            <a:r>
              <a:t>Welfare decomposition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331720" y="4361688"/>
            <a:ext cx="301752" cy="0"/>
          </a:xfrm>
          <a:prstGeom prst="line">
            <a:avLst/>
          </a:prstGeom>
          <a:ln w="20320">
            <a:solidFill>
              <a:srgbClr val="2A70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626864" y="4361688"/>
            <a:ext cx="310896" cy="0"/>
          </a:xfrm>
          <a:prstGeom prst="line">
            <a:avLst/>
          </a:prstGeom>
          <a:ln w="20320">
            <a:solidFill>
              <a:srgbClr val="2A70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269480" y="1737360"/>
            <a:ext cx="6949440" cy="1463040"/>
          </a:xfrm>
          <a:prstGeom prst="roundRect">
            <a:avLst>
              <a:gd name="adj" fmla="val 9000"/>
            </a:avLst>
          </a:prstGeom>
          <a:solidFill>
            <a:srgbClr val="EAF3FA"/>
          </a:solidFill>
          <a:ln w="12700">
            <a:solidFill>
              <a:srgbClr val="2A7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79208" y="1828800"/>
            <a:ext cx="6729983" cy="35661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2A70A5"/>
                </a:solidFill>
                <a:latin typeface="Arial"/>
              </a:defRPr>
            </a:pPr>
            <a:r>
              <a:t>Strategy A – Rule-based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4927" y="2221991"/>
            <a:ext cx="6629400" cy="9052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1. If Gₜ &gt; Dₜ: charge battery (up to Emax)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2. Else if priceₜ &gt; threshold and SOCₜ &gt; SOCmin: discharge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3. Else: keep SOCₜ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4. Update SOCₜ and apply degradation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69480" y="3383280"/>
            <a:ext cx="6949440" cy="1737360"/>
          </a:xfrm>
          <a:prstGeom prst="roundRect">
            <a:avLst>
              <a:gd name="adj" fmla="val 9000"/>
            </a:avLst>
          </a:prstGeom>
          <a:solidFill>
            <a:srgbClr val="EEF6F0"/>
          </a:solidFill>
          <a:ln w="12700">
            <a:solidFill>
              <a:srgbClr val="3A8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79208" y="3474720"/>
            <a:ext cx="6729983" cy="35661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3A8563"/>
                </a:solidFill>
                <a:latin typeface="Arial"/>
              </a:defRPr>
            </a:pPr>
            <a:r>
              <a:t>Strategy B – Forecast-based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24927" y="3867912"/>
            <a:ext cx="6629400" cy="11795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1. Obtain forecasts: Ĝₜ₊₁:ₜ₊₂₄, D̂ₜ₊₁:ₜ₊₂₄, p̂ₜ₊₁:ₜ₊₂₄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2. Compute charge/discharge thresholds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3. If expected high price and SOCₜ &gt; SOCmin: discharge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4. If expected surplus PV: charge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5. Update SOCₜ and apply degradation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69480" y="5303520"/>
            <a:ext cx="6949440" cy="1947672"/>
          </a:xfrm>
          <a:prstGeom prst="roundRect">
            <a:avLst>
              <a:gd name="adj" fmla="val 9000"/>
            </a:avLst>
          </a:prstGeom>
          <a:solidFill>
            <a:srgbClr val="FBF2E9"/>
          </a:solidFill>
          <a:ln w="12700">
            <a:solidFill>
              <a:srgbClr val="B46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79208" y="5394959"/>
            <a:ext cx="6729983" cy="35661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B46D2E"/>
                </a:solidFill>
                <a:latin typeface="Arial"/>
              </a:defRPr>
            </a:pPr>
            <a:r>
              <a:t>Strategy C – 24h rolling optimisation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24927" y="5788152"/>
            <a:ext cx="6629400" cy="138988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1. Solve 24h optimisation problem (t … t+23):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    max Σ U(Cₜ) − cost_grid + revenue_P2P − degradation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    subject to battery, power balance and market constraints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2. Implement first-hour decision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8344C"/>
                </a:solidFill>
                <a:latin typeface="Arial"/>
              </a:defRPr>
            </a:pPr>
            <a:r>
              <a:t>3. Roll to next hour and repeat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929</Words>
  <Application>Microsoft Macintosh PowerPoint</Application>
  <PresentationFormat>Custom</PresentationFormat>
  <Paragraphs>132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Architecture, pseudocode and parameters | FixedOmega v5</dc:title>
  <dc:subject>Editable methodology figures and tables; reference illustration reproduced separately</dc:subject>
  <dc:creator/>
  <cp:keywords>FixedOmega, editable, architecture, pseudocode, parameters</cp:keywords>
  <dc:description>generated using python-pptx</dc:description>
  <cp:lastModifiedBy>STEVE DEVVES</cp:lastModifiedBy>
  <cp:revision>18</cp:revision>
  <dcterms:created xsi:type="dcterms:W3CDTF">2013-01-27T09:14:16Z</dcterms:created>
  <dcterms:modified xsi:type="dcterms:W3CDTF">2026-10-01T13:14:33Z</dcterms:modified>
  <cp:category/>
</cp:coreProperties>
</file>